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Nova Bold" charset="1" panose="020B0804020202020204"/>
      <p:regular r:id="rId15"/>
    </p:embeddedFont>
    <p:embeddedFont>
      <p:font typeface="Montserrat" charset="1" panose="00000500000000000000"/>
      <p:regular r:id="rId16"/>
    </p:embeddedFont>
    <p:embeddedFont>
      <p:font typeface="Montserrat Bold" charset="1" panose="00000800000000000000"/>
      <p:regular r:id="rId17"/>
    </p:embeddedFont>
    <p:embeddedFont>
      <p:font typeface="Montserrat Italics" charset="1" panose="00000500000000000000"/>
      <p:regular r:id="rId18"/>
    </p:embeddedFont>
    <p:embeddedFont>
      <p:font typeface="Montserrat Bold Italics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Relationship Id="rId6" Target="../media/image41.jpeg" Type="http://schemas.openxmlformats.org/officeDocument/2006/relationships/image"/><Relationship Id="rId7" Target="../media/image42.jpe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881360"/>
          </a:xfrm>
          <a:custGeom>
            <a:avLst/>
            <a:gdLst/>
            <a:ahLst/>
            <a:cxnLst/>
            <a:rect r="r" b="b" t="t" l="l"/>
            <a:pathLst>
              <a:path h="10881360" w="18288000">
                <a:moveTo>
                  <a:pt x="0" y="0"/>
                </a:moveTo>
                <a:lnTo>
                  <a:pt x="18288000" y="0"/>
                </a:lnTo>
                <a:lnTo>
                  <a:pt x="18288000" y="10881360"/>
                </a:lnTo>
                <a:lnTo>
                  <a:pt x="0" y="1088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22264" y="7423851"/>
            <a:ext cx="8843472" cy="1293810"/>
            <a:chOff x="0" y="0"/>
            <a:chExt cx="2609622" cy="381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9622" cy="381791"/>
            </a:xfrm>
            <a:custGeom>
              <a:avLst/>
              <a:gdLst/>
              <a:ahLst/>
              <a:cxnLst/>
              <a:rect r="r" b="b" t="t" l="l"/>
              <a:pathLst>
                <a:path h="381791" w="2609622">
                  <a:moveTo>
                    <a:pt x="44647" y="0"/>
                  </a:moveTo>
                  <a:lnTo>
                    <a:pt x="2564975" y="0"/>
                  </a:lnTo>
                  <a:cubicBezTo>
                    <a:pt x="2589633" y="0"/>
                    <a:pt x="2609622" y="19989"/>
                    <a:pt x="2609622" y="44647"/>
                  </a:cubicBezTo>
                  <a:lnTo>
                    <a:pt x="2609622" y="337143"/>
                  </a:lnTo>
                  <a:cubicBezTo>
                    <a:pt x="2609622" y="348985"/>
                    <a:pt x="2604918" y="360341"/>
                    <a:pt x="2596545" y="368714"/>
                  </a:cubicBezTo>
                  <a:cubicBezTo>
                    <a:pt x="2588172" y="377087"/>
                    <a:pt x="2576816" y="381791"/>
                    <a:pt x="2564975" y="381791"/>
                  </a:cubicBezTo>
                  <a:lnTo>
                    <a:pt x="44647" y="381791"/>
                  </a:lnTo>
                  <a:cubicBezTo>
                    <a:pt x="19989" y="381791"/>
                    <a:pt x="0" y="361802"/>
                    <a:pt x="0" y="337143"/>
                  </a:cubicBezTo>
                  <a:lnTo>
                    <a:pt x="0" y="44647"/>
                  </a:lnTo>
                  <a:cubicBezTo>
                    <a:pt x="0" y="19989"/>
                    <a:pt x="19989" y="0"/>
                    <a:pt x="44647" y="0"/>
                  </a:cubicBezTo>
                  <a:close/>
                </a:path>
              </a:pathLst>
            </a:custGeom>
            <a:ln w="19050" cap="rnd">
              <a:solidFill>
                <a:srgbClr val="01012C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2609622" cy="296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80245" y="1028700"/>
            <a:ext cx="1679055" cy="1679055"/>
          </a:xfrm>
          <a:custGeom>
            <a:avLst/>
            <a:gdLst/>
            <a:ahLst/>
            <a:cxnLst/>
            <a:rect r="r" b="b" t="t" l="l"/>
            <a:pathLst>
              <a:path h="1679055" w="1679055">
                <a:moveTo>
                  <a:pt x="0" y="0"/>
                </a:moveTo>
                <a:lnTo>
                  <a:pt x="1679055" y="0"/>
                </a:lnTo>
                <a:lnTo>
                  <a:pt x="1679055" y="1679055"/>
                </a:lnTo>
                <a:lnTo>
                  <a:pt x="0" y="1679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679055" cy="1679055"/>
          </a:xfrm>
          <a:custGeom>
            <a:avLst/>
            <a:gdLst/>
            <a:ahLst/>
            <a:cxnLst/>
            <a:rect r="r" b="b" t="t" l="l"/>
            <a:pathLst>
              <a:path h="1679055" w="1679055">
                <a:moveTo>
                  <a:pt x="0" y="0"/>
                </a:moveTo>
                <a:lnTo>
                  <a:pt x="1679055" y="0"/>
                </a:lnTo>
                <a:lnTo>
                  <a:pt x="1679055" y="1679055"/>
                </a:lnTo>
                <a:lnTo>
                  <a:pt x="0" y="16790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63115" y="2441491"/>
            <a:ext cx="10961770" cy="443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60"/>
              </a:lnSpc>
            </a:pPr>
            <a:r>
              <a:rPr lang="en-US" b="true" sz="7200" spc="-59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HYBRID MARKOV CHAIN AND SHAPLEY VALUE APPROACH TO MULTI-TOUCH ATTRIBUTION AND BUDGET OPTIMIZATION IN DIGITAL MARKETING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93124"/>
            <a:ext cx="3995196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Supervisor: Asst. Prof. Dr. Mian Waqar Badshah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3896" y="7664183"/>
            <a:ext cx="8284517" cy="87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sz="2714" spc="-97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Presentation By Berkay Korkut</a:t>
            </a:r>
          </a:p>
          <a:p>
            <a:pPr algn="ctr">
              <a:lnSpc>
                <a:spcPts val="2253"/>
              </a:lnSpc>
            </a:pPr>
            <a:r>
              <a:rPr lang="en-US" sz="2714" spc="-97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Department of Management Information Systems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9603" y="2988751"/>
            <a:ext cx="3988795" cy="666287"/>
            <a:chOff x="0" y="0"/>
            <a:chExt cx="1050547" cy="175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0547" cy="175483"/>
            </a:xfrm>
            <a:custGeom>
              <a:avLst/>
              <a:gdLst/>
              <a:ahLst/>
              <a:cxnLst/>
              <a:rect r="r" b="b" t="t" l="l"/>
              <a:pathLst>
                <a:path h="175483" w="1050547">
                  <a:moveTo>
                    <a:pt x="87741" y="0"/>
                  </a:moveTo>
                  <a:lnTo>
                    <a:pt x="962805" y="0"/>
                  </a:lnTo>
                  <a:cubicBezTo>
                    <a:pt x="1011264" y="0"/>
                    <a:pt x="1050547" y="39283"/>
                    <a:pt x="1050547" y="87741"/>
                  </a:cubicBezTo>
                  <a:lnTo>
                    <a:pt x="1050547" y="87741"/>
                  </a:lnTo>
                  <a:cubicBezTo>
                    <a:pt x="1050547" y="111012"/>
                    <a:pt x="1041303" y="133329"/>
                    <a:pt x="1024848" y="149784"/>
                  </a:cubicBezTo>
                  <a:cubicBezTo>
                    <a:pt x="1008393" y="166239"/>
                    <a:pt x="986076" y="175483"/>
                    <a:pt x="962805" y="175483"/>
                  </a:cubicBezTo>
                  <a:lnTo>
                    <a:pt x="87741" y="175483"/>
                  </a:lnTo>
                  <a:cubicBezTo>
                    <a:pt x="64471" y="175483"/>
                    <a:pt x="42154" y="166239"/>
                    <a:pt x="25699" y="149784"/>
                  </a:cubicBezTo>
                  <a:cubicBezTo>
                    <a:pt x="9244" y="133329"/>
                    <a:pt x="0" y="111012"/>
                    <a:pt x="0" y="87741"/>
                  </a:cubicBezTo>
                  <a:lnTo>
                    <a:pt x="0" y="87741"/>
                  </a:lnTo>
                  <a:cubicBezTo>
                    <a:pt x="0" y="64471"/>
                    <a:pt x="9244" y="42154"/>
                    <a:pt x="25699" y="25699"/>
                  </a:cubicBezTo>
                  <a:cubicBezTo>
                    <a:pt x="42154" y="9244"/>
                    <a:pt x="64471" y="0"/>
                    <a:pt x="87741" y="0"/>
                  </a:cubicBezTo>
                  <a:close/>
                </a:path>
              </a:pathLst>
            </a:custGeom>
            <a:ln w="19050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0"/>
              <a:ext cx="1050547" cy="8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68765" y="6235216"/>
            <a:ext cx="3981069" cy="4114800"/>
          </a:xfrm>
          <a:custGeom>
            <a:avLst/>
            <a:gdLst/>
            <a:ahLst/>
            <a:cxnLst/>
            <a:rect r="r" b="b" t="t" l="l"/>
            <a:pathLst>
              <a:path h="4114800" w="3981069">
                <a:moveTo>
                  <a:pt x="0" y="0"/>
                </a:moveTo>
                <a:lnTo>
                  <a:pt x="3981069" y="0"/>
                </a:lnTo>
                <a:lnTo>
                  <a:pt x="39810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53947" y="4417037"/>
            <a:ext cx="1186022" cy="1186022"/>
          </a:xfrm>
          <a:custGeom>
            <a:avLst/>
            <a:gdLst/>
            <a:ahLst/>
            <a:cxnLst/>
            <a:rect r="r" b="b" t="t" l="l"/>
            <a:pathLst>
              <a:path h="1186022" w="1186022">
                <a:moveTo>
                  <a:pt x="0" y="0"/>
                </a:moveTo>
                <a:lnTo>
                  <a:pt x="1186022" y="0"/>
                </a:lnTo>
                <a:lnTo>
                  <a:pt x="1186022" y="1186023"/>
                </a:lnTo>
                <a:lnTo>
                  <a:pt x="0" y="1186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282992" y="5010048"/>
            <a:ext cx="936863" cy="0"/>
          </a:xfrm>
          <a:prstGeom prst="line">
            <a:avLst/>
          </a:prstGeom>
          <a:ln cap="flat" w="38100">
            <a:solidFill>
              <a:srgbClr val="01012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562877" y="4417037"/>
            <a:ext cx="1145780" cy="1145780"/>
          </a:xfrm>
          <a:custGeom>
            <a:avLst/>
            <a:gdLst/>
            <a:ahLst/>
            <a:cxnLst/>
            <a:rect r="r" b="b" t="t" l="l"/>
            <a:pathLst>
              <a:path h="1145780" w="1145780">
                <a:moveTo>
                  <a:pt x="0" y="0"/>
                </a:moveTo>
                <a:lnTo>
                  <a:pt x="1145780" y="0"/>
                </a:lnTo>
                <a:lnTo>
                  <a:pt x="1145780" y="1145780"/>
                </a:lnTo>
                <a:lnTo>
                  <a:pt x="0" y="114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97879" y="4417037"/>
            <a:ext cx="1520753" cy="1060725"/>
          </a:xfrm>
          <a:custGeom>
            <a:avLst/>
            <a:gdLst/>
            <a:ahLst/>
            <a:cxnLst/>
            <a:rect r="r" b="b" t="t" l="l"/>
            <a:pathLst>
              <a:path h="1060725" w="1520753">
                <a:moveTo>
                  <a:pt x="0" y="0"/>
                </a:moveTo>
                <a:lnTo>
                  <a:pt x="1520753" y="0"/>
                </a:lnTo>
                <a:lnTo>
                  <a:pt x="1520753" y="1060726"/>
                </a:lnTo>
                <a:lnTo>
                  <a:pt x="0" y="106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41295" y="4377866"/>
            <a:ext cx="1186022" cy="1186022"/>
          </a:xfrm>
          <a:custGeom>
            <a:avLst/>
            <a:gdLst/>
            <a:ahLst/>
            <a:cxnLst/>
            <a:rect r="r" b="b" t="t" l="l"/>
            <a:pathLst>
              <a:path h="1186022" w="1186022">
                <a:moveTo>
                  <a:pt x="0" y="0"/>
                </a:moveTo>
                <a:lnTo>
                  <a:pt x="1186022" y="0"/>
                </a:lnTo>
                <a:lnTo>
                  <a:pt x="1186022" y="1186022"/>
                </a:lnTo>
                <a:lnTo>
                  <a:pt x="0" y="11860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49981" y="4358816"/>
            <a:ext cx="1260050" cy="1186022"/>
          </a:xfrm>
          <a:custGeom>
            <a:avLst/>
            <a:gdLst/>
            <a:ahLst/>
            <a:cxnLst/>
            <a:rect r="r" b="b" t="t" l="l"/>
            <a:pathLst>
              <a:path h="1186022" w="1260050">
                <a:moveTo>
                  <a:pt x="0" y="0"/>
                </a:moveTo>
                <a:lnTo>
                  <a:pt x="1260050" y="0"/>
                </a:lnTo>
                <a:lnTo>
                  <a:pt x="1260050" y="1186022"/>
                </a:lnTo>
                <a:lnTo>
                  <a:pt x="0" y="1186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12870217" y="4928350"/>
            <a:ext cx="936863" cy="0"/>
          </a:xfrm>
          <a:prstGeom prst="line">
            <a:avLst/>
          </a:prstGeom>
          <a:ln cap="flat" w="38100">
            <a:solidFill>
              <a:srgbClr val="01012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>
            <a:off x="10061532" y="4951827"/>
            <a:ext cx="936863" cy="0"/>
          </a:xfrm>
          <a:prstGeom prst="line">
            <a:avLst/>
          </a:prstGeom>
          <a:ln cap="flat" w="38100">
            <a:solidFill>
              <a:srgbClr val="01012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6918116" y="4970877"/>
            <a:ext cx="936863" cy="0"/>
          </a:xfrm>
          <a:prstGeom prst="line">
            <a:avLst/>
          </a:prstGeom>
          <a:ln cap="flat" w="38100">
            <a:solidFill>
              <a:srgbClr val="01012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5582752" y="1371600"/>
            <a:ext cx="7032230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</a:pPr>
            <a:r>
              <a:rPr lang="en-US" b="true" sz="8799" spc="-721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61307" y="3164731"/>
            <a:ext cx="376538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deserves the credit?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65393" y="5815315"/>
            <a:ext cx="148470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Instagram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00296" y="5815315"/>
            <a:ext cx="20709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Google 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00386" y="5815315"/>
            <a:ext cx="9157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E-mail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0547" y="5815315"/>
            <a:ext cx="86751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Direct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98298" y="5815315"/>
            <a:ext cx="256341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Purchase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26287" y="7002130"/>
            <a:ext cx="970802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Last-click attribution gives </a:t>
            </a: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100% credit to the final touchpoint.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All earlier channels: </a:t>
            </a: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 credit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6176" y="2938552"/>
            <a:ext cx="2910568" cy="4742270"/>
          </a:xfrm>
          <a:custGeom>
            <a:avLst/>
            <a:gdLst/>
            <a:ahLst/>
            <a:cxnLst/>
            <a:rect r="r" b="b" t="t" l="l"/>
            <a:pathLst>
              <a:path h="4742270" w="2910568">
                <a:moveTo>
                  <a:pt x="0" y="0"/>
                </a:moveTo>
                <a:lnTo>
                  <a:pt x="2910568" y="0"/>
                </a:lnTo>
                <a:lnTo>
                  <a:pt x="2910568" y="4742270"/>
                </a:lnTo>
                <a:lnTo>
                  <a:pt x="0" y="474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13363" y="2695170"/>
            <a:ext cx="1839467" cy="183946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First-Click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32094" y="1371600"/>
            <a:ext cx="11223812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</a:pPr>
            <a:r>
              <a:rPr lang="en-US" b="true" sz="8799" spc="-721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REAL CHALLENGE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52222" y="6252240"/>
            <a:ext cx="1428581" cy="14285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Linear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66513" y="2131545"/>
            <a:ext cx="1829409" cy="182940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Last-Click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12272" y="4364895"/>
            <a:ext cx="1754212" cy="175421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Markov-Chain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50788" y="4868243"/>
            <a:ext cx="1604084" cy="160408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Shapley Value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441710" y="6172200"/>
            <a:ext cx="4509370" cy="4114800"/>
          </a:xfrm>
          <a:custGeom>
            <a:avLst/>
            <a:gdLst/>
            <a:ahLst/>
            <a:cxnLst/>
            <a:rect r="r" b="b" t="t" l="l"/>
            <a:pathLst>
              <a:path h="4114800" w="4509370">
                <a:moveTo>
                  <a:pt x="0" y="0"/>
                </a:moveTo>
                <a:lnTo>
                  <a:pt x="4509370" y="0"/>
                </a:lnTo>
                <a:lnTo>
                  <a:pt x="450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938552"/>
            <a:ext cx="7826752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Validation Gap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Many attribution methods exist.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But how do we know which one is </a:t>
            </a: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correct?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❌ </a:t>
            </a: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Real-world data has </a:t>
            </a: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ground truth.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❌ </a:t>
            </a: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We can’t ask the customer’s mind: “what really convinced you?”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⟶ Attribution research has been a </a:t>
            </a:r>
            <a:r>
              <a:rPr lang="en-US" sz="2100" b="true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decades-old debate</a:t>
            </a:r>
            <a:r>
              <a:rPr lang="en-US" sz="2100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 without a referee.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7871" y="3496643"/>
            <a:ext cx="8078945" cy="5221018"/>
          </a:xfrm>
          <a:custGeom>
            <a:avLst/>
            <a:gdLst/>
            <a:ahLst/>
            <a:cxnLst/>
            <a:rect r="r" b="b" t="t" l="l"/>
            <a:pathLst>
              <a:path h="5221018" w="8078945">
                <a:moveTo>
                  <a:pt x="0" y="0"/>
                </a:moveTo>
                <a:lnTo>
                  <a:pt x="8078946" y="0"/>
                </a:lnTo>
                <a:lnTo>
                  <a:pt x="8078946" y="5221018"/>
                </a:lnTo>
                <a:lnTo>
                  <a:pt x="0" y="52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35770" y="3081673"/>
            <a:ext cx="4435513" cy="5294231"/>
            <a:chOff x="0" y="0"/>
            <a:chExt cx="1168201" cy="13943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201" cy="1394365"/>
            </a:xfrm>
            <a:custGeom>
              <a:avLst/>
              <a:gdLst/>
              <a:ahLst/>
              <a:cxnLst/>
              <a:rect r="r" b="b" t="t" l="l"/>
              <a:pathLst>
                <a:path h="1394365" w="1168201">
                  <a:moveTo>
                    <a:pt x="89017" y="0"/>
                  </a:moveTo>
                  <a:lnTo>
                    <a:pt x="1079184" y="0"/>
                  </a:lnTo>
                  <a:cubicBezTo>
                    <a:pt x="1128347" y="0"/>
                    <a:pt x="1168201" y="39854"/>
                    <a:pt x="1168201" y="89017"/>
                  </a:cubicBezTo>
                  <a:lnTo>
                    <a:pt x="1168201" y="1305348"/>
                  </a:lnTo>
                  <a:cubicBezTo>
                    <a:pt x="1168201" y="1354511"/>
                    <a:pt x="1128347" y="1394365"/>
                    <a:pt x="1079184" y="1394365"/>
                  </a:cubicBezTo>
                  <a:lnTo>
                    <a:pt x="89017" y="1394365"/>
                  </a:lnTo>
                  <a:cubicBezTo>
                    <a:pt x="65409" y="1394365"/>
                    <a:pt x="42767" y="1384987"/>
                    <a:pt x="26073" y="1368293"/>
                  </a:cubicBezTo>
                  <a:cubicBezTo>
                    <a:pt x="9379" y="1351599"/>
                    <a:pt x="0" y="1328957"/>
                    <a:pt x="0" y="1305348"/>
                  </a:cubicBezTo>
                  <a:lnTo>
                    <a:pt x="0" y="89017"/>
                  </a:lnTo>
                  <a:cubicBezTo>
                    <a:pt x="0" y="39854"/>
                    <a:pt x="39854" y="0"/>
                    <a:pt x="89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0"/>
              <a:ext cx="1168201" cy="129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30,000 customer journey</a:t>
              </a:r>
            </a:p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marketing channels</a:t>
              </a:r>
            </a:p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Calibrated from industry benchmarks</a:t>
              </a:r>
            </a:p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1.18% conversion rate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35770" y="3081673"/>
            <a:ext cx="4435513" cy="1153948"/>
            <a:chOff x="0" y="0"/>
            <a:chExt cx="1168201" cy="303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201" cy="303920"/>
            </a:xfrm>
            <a:custGeom>
              <a:avLst/>
              <a:gdLst/>
              <a:ahLst/>
              <a:cxnLst/>
              <a:rect r="r" b="b" t="t" l="l"/>
              <a:pathLst>
                <a:path h="303920" w="1168201">
                  <a:moveTo>
                    <a:pt x="89017" y="0"/>
                  </a:moveTo>
                  <a:lnTo>
                    <a:pt x="1079184" y="0"/>
                  </a:lnTo>
                  <a:cubicBezTo>
                    <a:pt x="1128347" y="0"/>
                    <a:pt x="1168201" y="39854"/>
                    <a:pt x="1168201" y="89017"/>
                  </a:cubicBezTo>
                  <a:lnTo>
                    <a:pt x="1168201" y="214903"/>
                  </a:lnTo>
                  <a:cubicBezTo>
                    <a:pt x="1168201" y="238512"/>
                    <a:pt x="1158822" y="261154"/>
                    <a:pt x="1142128" y="277848"/>
                  </a:cubicBezTo>
                  <a:cubicBezTo>
                    <a:pt x="1125434" y="294542"/>
                    <a:pt x="1102792" y="303920"/>
                    <a:pt x="1079184" y="303920"/>
                  </a:cubicBezTo>
                  <a:lnTo>
                    <a:pt x="89017" y="303920"/>
                  </a:lnTo>
                  <a:cubicBezTo>
                    <a:pt x="65409" y="303920"/>
                    <a:pt x="42767" y="294542"/>
                    <a:pt x="26073" y="277848"/>
                  </a:cubicBezTo>
                  <a:cubicBezTo>
                    <a:pt x="9379" y="261154"/>
                    <a:pt x="0" y="238512"/>
                    <a:pt x="0" y="214903"/>
                  </a:cubicBezTo>
                  <a:lnTo>
                    <a:pt x="0" y="89017"/>
                  </a:lnTo>
                  <a:cubicBezTo>
                    <a:pt x="0" y="39854"/>
                    <a:pt x="39854" y="0"/>
                    <a:pt x="89017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1168201" cy="208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Synthetic Dataset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16717" y="3081673"/>
            <a:ext cx="4435513" cy="5294231"/>
            <a:chOff x="0" y="0"/>
            <a:chExt cx="1168201" cy="13943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8201" cy="1394365"/>
            </a:xfrm>
            <a:custGeom>
              <a:avLst/>
              <a:gdLst/>
              <a:ahLst/>
              <a:cxnLst/>
              <a:rect r="r" b="b" t="t" l="l"/>
              <a:pathLst>
                <a:path h="1394365" w="1168201">
                  <a:moveTo>
                    <a:pt x="89017" y="0"/>
                  </a:moveTo>
                  <a:lnTo>
                    <a:pt x="1079184" y="0"/>
                  </a:lnTo>
                  <a:cubicBezTo>
                    <a:pt x="1128347" y="0"/>
                    <a:pt x="1168201" y="39854"/>
                    <a:pt x="1168201" y="89017"/>
                  </a:cubicBezTo>
                  <a:lnTo>
                    <a:pt x="1168201" y="1305348"/>
                  </a:lnTo>
                  <a:cubicBezTo>
                    <a:pt x="1168201" y="1354511"/>
                    <a:pt x="1128347" y="1394365"/>
                    <a:pt x="1079184" y="1394365"/>
                  </a:cubicBezTo>
                  <a:lnTo>
                    <a:pt x="89017" y="1394365"/>
                  </a:lnTo>
                  <a:cubicBezTo>
                    <a:pt x="65409" y="1394365"/>
                    <a:pt x="42767" y="1384987"/>
                    <a:pt x="26073" y="1368293"/>
                  </a:cubicBezTo>
                  <a:cubicBezTo>
                    <a:pt x="9379" y="1351599"/>
                    <a:pt x="0" y="1328957"/>
                    <a:pt x="0" y="1305348"/>
                  </a:cubicBezTo>
                  <a:lnTo>
                    <a:pt x="0" y="89017"/>
                  </a:lnTo>
                  <a:cubicBezTo>
                    <a:pt x="0" y="39854"/>
                    <a:pt x="39854" y="0"/>
                    <a:pt x="89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0"/>
              <a:ext cx="1168201" cy="129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Channel effects pre-defined</a:t>
              </a:r>
            </a:p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Monte Carlo (100k paths)</a:t>
              </a:r>
            </a:p>
            <a:p>
              <a:pPr algn="l" marL="518160" indent="-259080" lvl="1">
                <a:lnSpc>
                  <a:spcPts val="1991"/>
                </a:lnSpc>
                <a:buFont typeface="Arial"/>
                <a:buChar char="•"/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 8 models tested against 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16717" y="3081673"/>
            <a:ext cx="4435513" cy="1153948"/>
            <a:chOff x="0" y="0"/>
            <a:chExt cx="1168201" cy="303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8201" cy="303920"/>
            </a:xfrm>
            <a:custGeom>
              <a:avLst/>
              <a:gdLst/>
              <a:ahLst/>
              <a:cxnLst/>
              <a:rect r="r" b="b" t="t" l="l"/>
              <a:pathLst>
                <a:path h="303920" w="1168201">
                  <a:moveTo>
                    <a:pt x="89017" y="0"/>
                  </a:moveTo>
                  <a:lnTo>
                    <a:pt x="1079184" y="0"/>
                  </a:lnTo>
                  <a:cubicBezTo>
                    <a:pt x="1128347" y="0"/>
                    <a:pt x="1168201" y="39854"/>
                    <a:pt x="1168201" y="89017"/>
                  </a:cubicBezTo>
                  <a:lnTo>
                    <a:pt x="1168201" y="214903"/>
                  </a:lnTo>
                  <a:cubicBezTo>
                    <a:pt x="1168201" y="238512"/>
                    <a:pt x="1158822" y="261154"/>
                    <a:pt x="1142128" y="277848"/>
                  </a:cubicBezTo>
                  <a:cubicBezTo>
                    <a:pt x="1125434" y="294542"/>
                    <a:pt x="1102792" y="303920"/>
                    <a:pt x="1079184" y="303920"/>
                  </a:cubicBezTo>
                  <a:lnTo>
                    <a:pt x="89017" y="303920"/>
                  </a:lnTo>
                  <a:cubicBezTo>
                    <a:pt x="65409" y="303920"/>
                    <a:pt x="42767" y="294542"/>
                    <a:pt x="26073" y="277848"/>
                  </a:cubicBezTo>
                  <a:cubicBezTo>
                    <a:pt x="9379" y="261154"/>
                    <a:pt x="0" y="238512"/>
                    <a:pt x="0" y="214903"/>
                  </a:cubicBezTo>
                  <a:lnTo>
                    <a:pt x="0" y="89017"/>
                  </a:lnTo>
                  <a:cubicBezTo>
                    <a:pt x="0" y="39854"/>
                    <a:pt x="39854" y="0"/>
                    <a:pt x="89017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0"/>
              <a:ext cx="1168201" cy="208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Known Ground Truth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72475" y="4985776"/>
            <a:ext cx="1543050" cy="1012627"/>
            <a:chOff x="0" y="0"/>
            <a:chExt cx="81280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539750" y="400050"/>
                  </a:lnTo>
                  <a:lnTo>
                    <a:pt x="539750" y="533400"/>
                  </a:lnTo>
                  <a:lnTo>
                    <a:pt x="812800" y="26670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01012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234950"/>
              <a:ext cx="609600" cy="158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732730" y="6871467"/>
            <a:ext cx="641593" cy="807036"/>
          </a:xfrm>
          <a:custGeom>
            <a:avLst/>
            <a:gdLst/>
            <a:ahLst/>
            <a:cxnLst/>
            <a:rect r="r" b="b" t="t" l="l"/>
            <a:pathLst>
              <a:path h="807036" w="641593">
                <a:moveTo>
                  <a:pt x="0" y="0"/>
                </a:moveTo>
                <a:lnTo>
                  <a:pt x="641593" y="0"/>
                </a:lnTo>
                <a:lnTo>
                  <a:pt x="641593" y="807036"/>
                </a:lnTo>
                <a:lnTo>
                  <a:pt x="0" y="80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45335" y="6785846"/>
            <a:ext cx="978278" cy="978278"/>
          </a:xfrm>
          <a:custGeom>
            <a:avLst/>
            <a:gdLst/>
            <a:ahLst/>
            <a:cxnLst/>
            <a:rect r="r" b="b" t="t" l="l"/>
            <a:pathLst>
              <a:path h="978278" w="978278">
                <a:moveTo>
                  <a:pt x="0" y="0"/>
                </a:moveTo>
                <a:lnTo>
                  <a:pt x="978278" y="0"/>
                </a:lnTo>
                <a:lnTo>
                  <a:pt x="978278" y="978278"/>
                </a:lnTo>
                <a:lnTo>
                  <a:pt x="0" y="9782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651047" y="7200900"/>
            <a:ext cx="4669277" cy="4114800"/>
          </a:xfrm>
          <a:custGeom>
            <a:avLst/>
            <a:gdLst/>
            <a:ahLst/>
            <a:cxnLst/>
            <a:rect r="r" b="b" t="t" l="l"/>
            <a:pathLst>
              <a:path h="4114800" w="4669277">
                <a:moveTo>
                  <a:pt x="0" y="0"/>
                </a:moveTo>
                <a:lnTo>
                  <a:pt x="4669277" y="0"/>
                </a:lnTo>
                <a:lnTo>
                  <a:pt x="46692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20668" y="-55880"/>
            <a:ext cx="4755125" cy="4291500"/>
          </a:xfrm>
          <a:custGeom>
            <a:avLst/>
            <a:gdLst/>
            <a:ahLst/>
            <a:cxnLst/>
            <a:rect r="r" b="b" t="t" l="l"/>
            <a:pathLst>
              <a:path h="4291500" w="4755125">
                <a:moveTo>
                  <a:pt x="0" y="0"/>
                </a:moveTo>
                <a:lnTo>
                  <a:pt x="4755125" y="0"/>
                </a:lnTo>
                <a:lnTo>
                  <a:pt x="4755125" y="4291500"/>
                </a:lnTo>
                <a:lnTo>
                  <a:pt x="0" y="429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35248" y="1266825"/>
            <a:ext cx="15817504" cy="73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9"/>
              </a:lnSpc>
            </a:pPr>
            <a:r>
              <a:rPr lang="en-US" b="true" sz="6399" spc="-524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OUR APPROACH: SYNTHETIC GROUND TRUTH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37077" y="2324426"/>
            <a:ext cx="481384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a  controlled laboratory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63320" y="8501634"/>
            <a:ext cx="636136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⟶ </a:t>
            </a: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Every method gets a </a:t>
            </a: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fair, objective grade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2758" y="3149875"/>
            <a:ext cx="3791434" cy="3317505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660400"/>
                  </a:lnTo>
                  <a:lnTo>
                    <a:pt x="406400" y="711200"/>
                  </a:lnTo>
                  <a:lnTo>
                    <a:pt x="0" y="660400"/>
                  </a:lnTo>
                  <a:lnTo>
                    <a:pt x="0" y="50800"/>
                  </a:lnTo>
                  <a:close/>
                </a:path>
              </a:pathLst>
            </a:custGeom>
            <a:ln w="190500" cap="sq">
              <a:solidFill>
                <a:srgbClr val="DC262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20650"/>
              <a:ext cx="8128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Markov Chain</a:t>
              </a:r>
            </a:p>
            <a:p>
              <a:pPr algn="ctr">
                <a:lnSpc>
                  <a:spcPts val="1991"/>
                </a:lnSpc>
              </a:pPr>
            </a:p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✅ </a:t>
              </a: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Ranks channels correctly</a:t>
              </a:r>
            </a:p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❌ Exaggerates magnitudes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53938" y="3149875"/>
            <a:ext cx="3791434" cy="3317505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660400"/>
                  </a:lnTo>
                  <a:lnTo>
                    <a:pt x="406400" y="711200"/>
                  </a:lnTo>
                  <a:lnTo>
                    <a:pt x="0" y="660400"/>
                  </a:lnTo>
                  <a:lnTo>
                    <a:pt x="0" y="50800"/>
                  </a:lnTo>
                  <a:close/>
                </a:path>
              </a:pathLst>
            </a:custGeom>
            <a:ln w="19050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20650"/>
              <a:ext cx="8128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Shapley Value</a:t>
              </a:r>
            </a:p>
            <a:p>
              <a:pPr algn="ctr">
                <a:lnSpc>
                  <a:spcPts val="1991"/>
                </a:lnSpc>
              </a:pPr>
            </a:p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✅ </a:t>
              </a: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Calibrated magnitudes</a:t>
              </a:r>
            </a:p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❌ Blurs the ranking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17630" y="4217098"/>
            <a:ext cx="4252739" cy="4500563"/>
            <a:chOff x="0" y="0"/>
            <a:chExt cx="812800" cy="860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0165"/>
            </a:xfrm>
            <a:custGeom>
              <a:avLst/>
              <a:gdLst/>
              <a:ahLst/>
              <a:cxnLst/>
              <a:rect r="r" b="b" t="t" l="l"/>
              <a:pathLst>
                <a:path h="860165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622040"/>
                  </a:lnTo>
                  <a:lnTo>
                    <a:pt x="574675" y="860165"/>
                  </a:lnTo>
                  <a:lnTo>
                    <a:pt x="238125" y="860165"/>
                  </a:lnTo>
                  <a:lnTo>
                    <a:pt x="0" y="62204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ln w="190500" cap="sq">
              <a:solidFill>
                <a:srgbClr val="7D305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158750"/>
              <a:ext cx="685800" cy="6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  <a:r>
                <a:rPr lang="en-US" b="true" sz="2400" spc="-86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Hybrid = α · Markov + (1−α) · Shapley</a:t>
              </a:r>
            </a:p>
            <a:p>
              <a:pPr algn="ctr">
                <a:lnSpc>
                  <a:spcPts val="1991"/>
                </a:lnSpc>
              </a:pPr>
            </a:p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Empirically optimal: </a:t>
              </a:r>
              <a:r>
                <a:rPr lang="en-US" sz="2400" i="true" spc="-86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α = 0.25</a:t>
              </a: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*</a:t>
              </a:r>
            </a:p>
            <a:p>
              <a:pPr algn="ctr">
                <a:lnSpc>
                  <a:spcPts val="1991"/>
                </a:lnSpc>
              </a:pPr>
              <a:r>
                <a:rPr lang="en-US" sz="2400" spc="-8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(25% Markov + 75% Shapley)</a:t>
              </a:r>
            </a:p>
            <a:p>
              <a:pPr algn="ctr">
                <a:lnSpc>
                  <a:spcPts val="1991"/>
                </a:lnSpc>
              </a:pPr>
            </a:p>
            <a:p>
              <a:pPr algn="ctr">
                <a:lnSpc>
                  <a:spcPts val="199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9236091">
            <a:off x="4954822" y="5368805"/>
            <a:ext cx="2139629" cy="2197149"/>
            <a:chOff x="0" y="0"/>
            <a:chExt cx="449058" cy="461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058" cy="461130"/>
            </a:xfrm>
            <a:custGeom>
              <a:avLst/>
              <a:gdLst/>
              <a:ahLst/>
              <a:cxnLst/>
              <a:rect r="r" b="b" t="t" l="l"/>
              <a:pathLst>
                <a:path h="461130" w="449058">
                  <a:moveTo>
                    <a:pt x="239386" y="165949"/>
                  </a:moveTo>
                  <a:lnTo>
                    <a:pt x="449058" y="165949"/>
                  </a:lnTo>
                  <a:lnTo>
                    <a:pt x="449058" y="295155"/>
                  </a:lnTo>
                  <a:lnTo>
                    <a:pt x="239373" y="295155"/>
                  </a:lnTo>
                  <a:lnTo>
                    <a:pt x="302255" y="461130"/>
                  </a:lnTo>
                  <a:lnTo>
                    <a:pt x="0" y="230565"/>
                  </a:lnTo>
                  <a:lnTo>
                    <a:pt x="302255" y="0"/>
                  </a:lnTo>
                  <a:lnTo>
                    <a:pt x="239386" y="165949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260350"/>
              <a:ext cx="328408" cy="3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711722">
            <a:off x="11193548" y="5404416"/>
            <a:ext cx="2139629" cy="2197149"/>
            <a:chOff x="0" y="0"/>
            <a:chExt cx="449058" cy="461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058" cy="461130"/>
            </a:xfrm>
            <a:custGeom>
              <a:avLst/>
              <a:gdLst/>
              <a:ahLst/>
              <a:cxnLst/>
              <a:rect r="r" b="b" t="t" l="l"/>
              <a:pathLst>
                <a:path h="461130" w="449058">
                  <a:moveTo>
                    <a:pt x="239386" y="165949"/>
                  </a:moveTo>
                  <a:lnTo>
                    <a:pt x="449058" y="165949"/>
                  </a:lnTo>
                  <a:lnTo>
                    <a:pt x="449058" y="295155"/>
                  </a:lnTo>
                  <a:lnTo>
                    <a:pt x="239373" y="295155"/>
                  </a:lnTo>
                  <a:lnTo>
                    <a:pt x="302255" y="461130"/>
                  </a:lnTo>
                  <a:lnTo>
                    <a:pt x="0" y="230565"/>
                  </a:lnTo>
                  <a:lnTo>
                    <a:pt x="302255" y="0"/>
                  </a:lnTo>
                  <a:lnTo>
                    <a:pt x="239386" y="165949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260350"/>
              <a:ext cx="328408" cy="3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44720" y="1371600"/>
            <a:ext cx="9598561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</a:pPr>
            <a:r>
              <a:rPr lang="en-US" b="true" sz="8799" spc="-721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HYBRID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24637" y="2753635"/>
            <a:ext cx="623872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Combining two complementary methods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850891"/>
            <a:ext cx="7671851" cy="5134239"/>
          </a:xfrm>
          <a:custGeom>
            <a:avLst/>
            <a:gdLst/>
            <a:ahLst/>
            <a:cxnLst/>
            <a:rect r="r" b="b" t="t" l="l"/>
            <a:pathLst>
              <a:path h="5134239" w="7671851">
                <a:moveTo>
                  <a:pt x="0" y="0"/>
                </a:moveTo>
                <a:lnTo>
                  <a:pt x="7671851" y="0"/>
                </a:lnTo>
                <a:lnTo>
                  <a:pt x="7671851" y="5134239"/>
                </a:lnTo>
                <a:lnTo>
                  <a:pt x="0" y="5134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3593801"/>
          <a:ext cx="6396851" cy="3648418"/>
        </p:xfrm>
        <a:graphic>
          <a:graphicData uri="http://schemas.openxmlformats.org/drawingml/2006/table">
            <a:tbl>
              <a:tblPr/>
              <a:tblGrid>
                <a:gridCol w="2049692"/>
                <a:gridCol w="2142648"/>
                <a:gridCol w="2204511"/>
              </a:tblGrid>
              <a:tr h="8471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LAST-CLICK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HYBRID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8471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 i="true">
                          <a:solidFill>
                            <a:srgbClr val="10B981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0.0571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1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SPEARMAN 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 i="true">
                          <a:solidFill>
                            <a:srgbClr val="10B981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0.600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9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RANK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 i="true">
                          <a:solidFill>
                            <a:srgbClr val="10B981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60%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130563" y="8255969"/>
            <a:ext cx="2290322" cy="2290322"/>
          </a:xfrm>
          <a:custGeom>
            <a:avLst/>
            <a:gdLst/>
            <a:ahLst/>
            <a:cxnLst/>
            <a:rect r="r" b="b" t="t" l="l"/>
            <a:pathLst>
              <a:path h="2290322" w="2290322">
                <a:moveTo>
                  <a:pt x="0" y="0"/>
                </a:moveTo>
                <a:lnTo>
                  <a:pt x="2290322" y="0"/>
                </a:lnTo>
                <a:lnTo>
                  <a:pt x="2290322" y="2290322"/>
                </a:lnTo>
                <a:lnTo>
                  <a:pt x="0" y="2290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5780" y="1304925"/>
            <a:ext cx="1417644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0"/>
              </a:lnSpc>
            </a:pPr>
            <a:r>
              <a:rPr lang="en-US" b="true" sz="7200" spc="-59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RESULTS: ATTRIBUTION ACCURACY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598" y="2812791"/>
            <a:ext cx="642505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hybrid model wins - by a clear margin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588890"/>
            <a:ext cx="584755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⟶ 21.2% lower error, 2x better ranking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012037"/>
            <a:ext cx="7837000" cy="4811946"/>
          </a:xfrm>
          <a:custGeom>
            <a:avLst/>
            <a:gdLst/>
            <a:ahLst/>
            <a:cxnLst/>
            <a:rect r="r" b="b" t="t" l="l"/>
            <a:pathLst>
              <a:path h="4811946" w="7837000">
                <a:moveTo>
                  <a:pt x="0" y="0"/>
                </a:moveTo>
                <a:lnTo>
                  <a:pt x="7837000" y="0"/>
                </a:lnTo>
                <a:lnTo>
                  <a:pt x="7837000" y="4811947"/>
                </a:lnTo>
                <a:lnTo>
                  <a:pt x="0" y="4811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979395" y="3504938"/>
          <a:ext cx="4196175" cy="4360094"/>
        </p:xfrm>
        <a:graphic>
          <a:graphicData uri="http://schemas.openxmlformats.org/drawingml/2006/table">
            <a:tbl>
              <a:tblPr/>
              <a:tblGrid>
                <a:gridCol w="1891897"/>
                <a:gridCol w="2304278"/>
              </a:tblGrid>
              <a:tr h="8434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BUDGET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IMPROVEMENT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8434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 i="true">
                          <a:solidFill>
                            <a:srgbClr val="10B981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$10,000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 i="true">
                          <a:solidFill>
                            <a:srgbClr val="10B981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+13.72%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4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+3.35%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4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+0.77%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62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$500,000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≈0% (saturation)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552" y="8496491"/>
            <a:ext cx="2046296" cy="1790509"/>
          </a:xfrm>
          <a:custGeom>
            <a:avLst/>
            <a:gdLst/>
            <a:ahLst/>
            <a:cxnLst/>
            <a:rect r="r" b="b" t="t" l="l"/>
            <a:pathLst>
              <a:path h="1790509" w="2046296">
                <a:moveTo>
                  <a:pt x="0" y="0"/>
                </a:moveTo>
                <a:lnTo>
                  <a:pt x="2046296" y="0"/>
                </a:lnTo>
                <a:lnTo>
                  <a:pt x="2046296" y="1790509"/>
                </a:lnTo>
                <a:lnTo>
                  <a:pt x="0" y="1790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38577" y="1304925"/>
            <a:ext cx="11210847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0"/>
              </a:lnSpc>
            </a:pPr>
            <a:r>
              <a:rPr lang="en-US" b="true" sz="7200" spc="-59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RESULTS: REVENUE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9395" y="2973937"/>
            <a:ext cx="479881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does this mean in dollars?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79395" y="7960282"/>
            <a:ext cx="663165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⟶ </a:t>
            </a: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Greatest value: small-to-medium B2C operations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1289" y="-2208131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97675" y="2246160"/>
            <a:ext cx="5507472" cy="3442170"/>
          </a:xfrm>
          <a:custGeom>
            <a:avLst/>
            <a:gdLst/>
            <a:ahLst/>
            <a:cxnLst/>
            <a:rect r="r" b="b" t="t" l="l"/>
            <a:pathLst>
              <a:path h="3442170" w="5507472">
                <a:moveTo>
                  <a:pt x="0" y="0"/>
                </a:moveTo>
                <a:lnTo>
                  <a:pt x="5507472" y="0"/>
                </a:lnTo>
                <a:lnTo>
                  <a:pt x="5507472" y="3442170"/>
                </a:lnTo>
                <a:lnTo>
                  <a:pt x="0" y="344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6B728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54325" y="2246160"/>
            <a:ext cx="5507472" cy="3442170"/>
          </a:xfrm>
          <a:custGeom>
            <a:avLst/>
            <a:gdLst/>
            <a:ahLst/>
            <a:cxnLst/>
            <a:rect r="r" b="b" t="t" l="l"/>
            <a:pathLst>
              <a:path h="3442170" w="5507472">
                <a:moveTo>
                  <a:pt x="0" y="0"/>
                </a:moveTo>
                <a:lnTo>
                  <a:pt x="5507472" y="0"/>
                </a:lnTo>
                <a:lnTo>
                  <a:pt x="5507472" y="3442170"/>
                </a:lnTo>
                <a:lnTo>
                  <a:pt x="0" y="3442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6B728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597675" y="5816130"/>
            <a:ext cx="5507472" cy="3442170"/>
          </a:xfrm>
          <a:custGeom>
            <a:avLst/>
            <a:gdLst/>
            <a:ahLst/>
            <a:cxnLst/>
            <a:rect r="r" b="b" t="t" l="l"/>
            <a:pathLst>
              <a:path h="3442170" w="5507472">
                <a:moveTo>
                  <a:pt x="0" y="0"/>
                </a:moveTo>
                <a:lnTo>
                  <a:pt x="5507472" y="0"/>
                </a:lnTo>
                <a:lnTo>
                  <a:pt x="5507472" y="3442170"/>
                </a:lnTo>
                <a:lnTo>
                  <a:pt x="0" y="3442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6B728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254325" y="5816130"/>
            <a:ext cx="5507472" cy="3442170"/>
          </a:xfrm>
          <a:custGeom>
            <a:avLst/>
            <a:gdLst/>
            <a:ahLst/>
            <a:cxnLst/>
            <a:rect r="r" b="b" t="t" l="l"/>
            <a:pathLst>
              <a:path h="3442170" w="5507472">
                <a:moveTo>
                  <a:pt x="0" y="0"/>
                </a:moveTo>
                <a:lnTo>
                  <a:pt x="5507472" y="0"/>
                </a:lnTo>
                <a:lnTo>
                  <a:pt x="5507472" y="3442170"/>
                </a:lnTo>
                <a:lnTo>
                  <a:pt x="0" y="34421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6B7280"/>
            </a:solidFill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-5400000">
            <a:off x="2339195" y="4675413"/>
            <a:ext cx="1253728" cy="3874718"/>
            <a:chOff x="0" y="0"/>
            <a:chExt cx="330200" cy="1020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200" cy="1020502"/>
            </a:xfrm>
            <a:custGeom>
              <a:avLst/>
              <a:gdLst/>
              <a:ahLst/>
              <a:cxnLst/>
              <a:rect r="r" b="b" t="t" l="l"/>
              <a:pathLst>
                <a:path h="1020502" w="330200">
                  <a:moveTo>
                    <a:pt x="110126" y="1001433"/>
                  </a:moveTo>
                  <a:cubicBezTo>
                    <a:pt x="127055" y="1012947"/>
                    <a:pt x="146300" y="1020502"/>
                    <a:pt x="165189" y="1020502"/>
                  </a:cubicBezTo>
                  <a:cubicBezTo>
                    <a:pt x="184078" y="1020502"/>
                    <a:pt x="202254" y="1014025"/>
                    <a:pt x="219005" y="1002511"/>
                  </a:cubicBezTo>
                  <a:cubicBezTo>
                    <a:pt x="219361" y="1002152"/>
                    <a:pt x="219718" y="1002152"/>
                    <a:pt x="220074" y="1001792"/>
                  </a:cubicBezTo>
                  <a:cubicBezTo>
                    <a:pt x="282978" y="955737"/>
                    <a:pt x="329309" y="834123"/>
                    <a:pt x="330200" y="687386"/>
                  </a:cubicBezTo>
                  <a:lnTo>
                    <a:pt x="330200" y="0"/>
                  </a:lnTo>
                  <a:lnTo>
                    <a:pt x="0" y="0"/>
                  </a:lnTo>
                  <a:lnTo>
                    <a:pt x="0" y="686876"/>
                  </a:lnTo>
                  <a:cubicBezTo>
                    <a:pt x="891" y="834842"/>
                    <a:pt x="46510" y="956457"/>
                    <a:pt x="110126" y="10014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330200" cy="798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3188" y="7464074"/>
            <a:ext cx="4865696" cy="894035"/>
            <a:chOff x="0" y="0"/>
            <a:chExt cx="1281500" cy="235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500" cy="235466"/>
            </a:xfrm>
            <a:custGeom>
              <a:avLst/>
              <a:gdLst/>
              <a:ahLst/>
              <a:cxnLst/>
              <a:rect r="r" b="b" t="t" l="l"/>
              <a:pathLst>
                <a:path h="235466" w="1281500">
                  <a:moveTo>
                    <a:pt x="81147" y="0"/>
                  </a:moveTo>
                  <a:lnTo>
                    <a:pt x="1200353" y="0"/>
                  </a:lnTo>
                  <a:cubicBezTo>
                    <a:pt x="1221875" y="0"/>
                    <a:pt x="1242515" y="8549"/>
                    <a:pt x="1257733" y="23767"/>
                  </a:cubicBezTo>
                  <a:cubicBezTo>
                    <a:pt x="1272951" y="38986"/>
                    <a:pt x="1281500" y="59626"/>
                    <a:pt x="1281500" y="81147"/>
                  </a:cubicBezTo>
                  <a:lnTo>
                    <a:pt x="1281500" y="154319"/>
                  </a:lnTo>
                  <a:cubicBezTo>
                    <a:pt x="1281500" y="199135"/>
                    <a:pt x="1245169" y="235466"/>
                    <a:pt x="1200353" y="235466"/>
                  </a:cubicBezTo>
                  <a:lnTo>
                    <a:pt x="81147" y="235466"/>
                  </a:lnTo>
                  <a:cubicBezTo>
                    <a:pt x="59626" y="235466"/>
                    <a:pt x="38986" y="226917"/>
                    <a:pt x="23767" y="211699"/>
                  </a:cubicBezTo>
                  <a:cubicBezTo>
                    <a:pt x="8549" y="196481"/>
                    <a:pt x="0" y="175840"/>
                    <a:pt x="0" y="154319"/>
                  </a:cubicBezTo>
                  <a:lnTo>
                    <a:pt x="0" y="81147"/>
                  </a:lnTo>
                  <a:cubicBezTo>
                    <a:pt x="0" y="59626"/>
                    <a:pt x="8549" y="38986"/>
                    <a:pt x="23767" y="23767"/>
                  </a:cubicBezTo>
                  <a:cubicBezTo>
                    <a:pt x="38986" y="8549"/>
                    <a:pt x="59626" y="0"/>
                    <a:pt x="811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0"/>
              <a:ext cx="1281500" cy="140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8598" y="3561806"/>
            <a:ext cx="4568326" cy="405439"/>
          </a:xfrm>
          <a:custGeom>
            <a:avLst/>
            <a:gdLst/>
            <a:ahLst/>
            <a:cxnLst/>
            <a:rect r="r" b="b" t="t" l="l"/>
            <a:pathLst>
              <a:path h="405439" w="4568326">
                <a:moveTo>
                  <a:pt x="0" y="0"/>
                </a:moveTo>
                <a:lnTo>
                  <a:pt x="4568326" y="0"/>
                </a:lnTo>
                <a:lnTo>
                  <a:pt x="4568326" y="405439"/>
                </a:lnTo>
                <a:lnTo>
                  <a:pt x="0" y="405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64788" y="4187212"/>
            <a:ext cx="662497" cy="1090530"/>
          </a:xfrm>
          <a:custGeom>
            <a:avLst/>
            <a:gdLst/>
            <a:ahLst/>
            <a:cxnLst/>
            <a:rect r="r" b="b" t="t" l="l"/>
            <a:pathLst>
              <a:path h="1090530" w="662497">
                <a:moveTo>
                  <a:pt x="0" y="0"/>
                </a:moveTo>
                <a:lnTo>
                  <a:pt x="662497" y="0"/>
                </a:lnTo>
                <a:lnTo>
                  <a:pt x="662497" y="1090530"/>
                </a:lnTo>
                <a:lnTo>
                  <a:pt x="0" y="1090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8884" y="1304925"/>
            <a:ext cx="7830231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0"/>
              </a:lnSpc>
            </a:pPr>
            <a:r>
              <a:rPr lang="en-US" b="true" sz="7200" spc="-590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INTERACTIVE DEMO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663706"/>
            <a:ext cx="426812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 interactive companion - explore it yourself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6186053"/>
            <a:ext cx="559767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🔗 hybrid-attribution-explorer.streamlit.app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7499115"/>
            <a:ext cx="559767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🖥️ </a:t>
            </a: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GitHub:</a:t>
            </a: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 brky48/hybrid-mta-attribution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55956" y="8153072"/>
            <a:ext cx="9976088" cy="925015"/>
            <a:chOff x="0" y="0"/>
            <a:chExt cx="2943846" cy="272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3846" cy="272963"/>
            </a:xfrm>
            <a:custGeom>
              <a:avLst/>
              <a:gdLst/>
              <a:ahLst/>
              <a:cxnLst/>
              <a:rect r="r" b="b" t="t" l="l"/>
              <a:pathLst>
                <a:path h="272963" w="2943846">
                  <a:moveTo>
                    <a:pt x="39578" y="0"/>
                  </a:moveTo>
                  <a:lnTo>
                    <a:pt x="2904268" y="0"/>
                  </a:lnTo>
                  <a:cubicBezTo>
                    <a:pt x="2914765" y="0"/>
                    <a:pt x="2924831" y="4170"/>
                    <a:pt x="2932254" y="11592"/>
                  </a:cubicBezTo>
                  <a:cubicBezTo>
                    <a:pt x="2939676" y="19015"/>
                    <a:pt x="2943846" y="29082"/>
                    <a:pt x="2943846" y="39578"/>
                  </a:cubicBezTo>
                  <a:lnTo>
                    <a:pt x="2943846" y="233385"/>
                  </a:lnTo>
                  <a:cubicBezTo>
                    <a:pt x="2943846" y="243881"/>
                    <a:pt x="2939676" y="253948"/>
                    <a:pt x="2932254" y="261371"/>
                  </a:cubicBezTo>
                  <a:cubicBezTo>
                    <a:pt x="2924831" y="268793"/>
                    <a:pt x="2914765" y="272963"/>
                    <a:pt x="2904268" y="272963"/>
                  </a:cubicBezTo>
                  <a:lnTo>
                    <a:pt x="39578" y="272963"/>
                  </a:lnTo>
                  <a:cubicBezTo>
                    <a:pt x="29082" y="272963"/>
                    <a:pt x="19015" y="268793"/>
                    <a:pt x="11592" y="261371"/>
                  </a:cubicBezTo>
                  <a:cubicBezTo>
                    <a:pt x="4170" y="253948"/>
                    <a:pt x="0" y="243881"/>
                    <a:pt x="0" y="233385"/>
                  </a:cubicBezTo>
                  <a:lnTo>
                    <a:pt x="0" y="39578"/>
                  </a:lnTo>
                  <a:cubicBezTo>
                    <a:pt x="0" y="29082"/>
                    <a:pt x="4170" y="19015"/>
                    <a:pt x="11592" y="11592"/>
                  </a:cubicBezTo>
                  <a:cubicBezTo>
                    <a:pt x="19015" y="4170"/>
                    <a:pt x="29082" y="0"/>
                    <a:pt x="39578" y="0"/>
                  </a:cubicBezTo>
                  <a:close/>
                </a:path>
              </a:pathLst>
            </a:custGeom>
            <a:ln w="19050" cap="rnd">
              <a:solidFill>
                <a:srgbClr val="01012C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943846" cy="187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4052" y="1333500"/>
            <a:ext cx="14979896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0"/>
              </a:lnSpc>
            </a:pPr>
            <a:r>
              <a:rPr lang="en-US" b="true" sz="8000" spc="-656">
                <a:solidFill>
                  <a:srgbClr val="01012C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THANK YOU SO MUCH!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4304" y="8393404"/>
            <a:ext cx="9432892" cy="59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sz="2714" spc="-97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Presentation By Berkay Korkut</a:t>
            </a:r>
          </a:p>
          <a:p>
            <a:pPr algn="ctr">
              <a:lnSpc>
                <a:spcPts val="2253"/>
              </a:lnSpc>
            </a:pPr>
            <a:r>
              <a:rPr lang="en-US" sz="2714" spc="-97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Department of Management Information Systems,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1710" y="8812911"/>
            <a:ext cx="2817590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1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0542" y="2890770"/>
            <a:ext cx="9846915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Contributions</a:t>
            </a:r>
          </a:p>
          <a:p>
            <a:pPr algn="ctr">
              <a:lnSpc>
                <a:spcPts val="3359"/>
              </a:lnSpc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spc="-79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1️⃣ </a:t>
            </a:r>
            <a:r>
              <a:rPr lang="en-US" b="true" sz="2200" spc="-79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 framework </a:t>
            </a:r>
            <a:r>
              <a:rPr lang="en-US" sz="2200" spc="-79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– synthetic ground truth for objective comparison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spc="-79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2️⃣ </a:t>
            </a:r>
            <a:r>
              <a:rPr lang="en-US" b="true" sz="2200" spc="-79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Markov-Shapley trade-off </a:t>
            </a:r>
            <a:r>
              <a:rPr lang="en-US" sz="2200" spc="-79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– formally identified and resolved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spc="-79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3️⃣ </a:t>
            </a:r>
            <a:r>
              <a:rPr lang="en-US" b="true" sz="2200" spc="-79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with budget optimization </a:t>
            </a:r>
            <a:r>
              <a:rPr lang="en-US" sz="2200" spc="-79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– attribution meets allocation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94632"/>
            <a:ext cx="16230600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I would like to express my sincere gratitude to my supervisor, </a:t>
            </a: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Professor Mian Waqar Badshah, </a:t>
            </a: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for his guidance and support throughout this thesis.</a:t>
            </a:r>
          </a:p>
          <a:p>
            <a:pPr algn="ctr">
              <a:lnSpc>
                <a:spcPts val="3359"/>
              </a:lnSpc>
            </a:pPr>
            <a:r>
              <a:rPr lang="en-US" sz="2400" spc="-86">
                <a:solidFill>
                  <a:srgbClr val="01012C"/>
                </a:solidFill>
                <a:latin typeface="Montserrat"/>
                <a:ea typeface="Montserrat"/>
                <a:cs typeface="Montserrat"/>
                <a:sym typeface="Montserrat"/>
              </a:rPr>
              <a:t>I am also deeply grateful to all the professors of the Department of Management Information Systems for the foundation they have given me during my undergraduate studies.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6">
                <a:solidFill>
                  <a:srgbClr val="0101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DAHMis3JOyU</dc:identifier>
  <dcterms:modified xsi:type="dcterms:W3CDTF">2011-08-01T06:04:30Z</dcterms:modified>
  <cp:revision>1</cp:revision>
  <dc:title>berkay_korkut_presentation</dc:title>
</cp:coreProperties>
</file>